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7UFbjIwv4YY/7j9WSVpSUbPW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D2A66D-69A1-4612-8039-FB40DAB3ED03}">
  <a:tblStyle styleId="{23D2A66D-69A1-4612-8039-FB40DAB3ED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79b879b1c6a75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379b879b1c6a75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379b879b1c6a756b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h379b879b1c6a756b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earliest ledger still available is #32570: the first ledger versions of June 2012 were lost due to a bug, so ledger #32570 is treated as the effective genesis.</a:t>
            </a:r>
            <a:endParaRPr/>
          </a:p>
        </p:txBody>
      </p:sp>
      <p:sp>
        <p:nvSpPr>
          <p:cNvPr id="92" name="Google Shape;92;h379b879b1c6a756b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379b879b1c6a756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h379b879b1c6a756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379b879b1c6a756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379b879b1c6a756b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379b879b1c6a75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379b879b1c6a756b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379b879b1c6a756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379b879b1c6a756b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379b879b1c6a756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379b879b1c6a756b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379b879b1c6a756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379b879b1c6a756b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379b879b1c6a756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379b879b1c6a756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379b879b1c6a756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h379b879b1c6a756b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xrpl.org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8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379b879b1c6a756b_0_0"/>
          <p:cNvSpPr/>
          <p:nvPr/>
        </p:nvSpPr>
        <p:spPr>
          <a:xfrm>
            <a:off x="457200" y="548640"/>
            <a:ext cx="822900" cy="8229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XRP</a:t>
            </a:r>
            <a:endParaRPr/>
          </a:p>
        </p:txBody>
      </p:sp>
      <p:sp>
        <p:nvSpPr>
          <p:cNvPr id="85" name="Google Shape;85;h379b879b1c6a756b_0_0"/>
          <p:cNvSpPr txBox="1"/>
          <p:nvPr/>
        </p:nvSpPr>
        <p:spPr>
          <a:xfrm>
            <a:off x="457200" y="1691640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XRP Ledger</a:t>
            </a:r>
            <a:endParaRPr/>
          </a:p>
        </p:txBody>
      </p:sp>
      <p:sp>
        <p:nvSpPr>
          <p:cNvPr id="86" name="Google Shape;86;h379b879b1c6a756b_0_0"/>
          <p:cNvSpPr txBox="1"/>
          <p:nvPr/>
        </p:nvSpPr>
        <p:spPr>
          <a:xfrm>
            <a:off x="457200" y="2514600"/>
            <a:ext cx="8229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9D3DE"/>
                </a:solidFill>
                <a:latin typeface="Calibri"/>
                <a:ea typeface="Calibri"/>
                <a:cs typeface="Calibri"/>
                <a:sym typeface="Calibri"/>
              </a:rPr>
              <a:t>Research of a Layer 1 blockchain:</a:t>
            </a:r>
            <a:endParaRPr b="0" i="0" sz="2000" u="none" cap="none" strike="noStrike">
              <a:solidFill>
                <a:srgbClr val="C9D3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9D3DE"/>
                </a:solidFill>
                <a:latin typeface="Calibri"/>
                <a:ea typeface="Calibri"/>
                <a:cs typeface="Calibri"/>
                <a:sym typeface="Calibri"/>
              </a:rPr>
              <a:t> foundation-level parameters</a:t>
            </a:r>
            <a:endParaRPr b="0" i="0" sz="2000" u="none" cap="none" strike="noStrike">
              <a:solidFill>
                <a:srgbClr val="C9D3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9D3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https://xrpl.org/</a:t>
            </a:r>
            <a:r>
              <a:rPr lang="en-US" sz="2000">
                <a:solidFill>
                  <a:srgbClr val="C9D3DE"/>
                </a:solidFill>
                <a:latin typeface="Calibri"/>
                <a:ea typeface="Calibri"/>
                <a:cs typeface="Calibri"/>
                <a:sym typeface="Calibri"/>
              </a:rPr>
              <a:t> -&gt;&gt;&gt;&gt;&gt;&gt;&gt;&gt;&gt;&gt;&gt;&gt;&gt;&gt;</a:t>
            </a:r>
            <a:endParaRPr sz="2000">
              <a:solidFill>
                <a:srgbClr val="C9D3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h379b879b1c6a756b_0_0"/>
          <p:cNvSpPr txBox="1"/>
          <p:nvPr/>
        </p:nvSpPr>
        <p:spPr>
          <a:xfrm>
            <a:off x="457200" y="3931920"/>
            <a:ext cx="822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Anastasia Korshunova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AA8B8"/>
                </a:solidFill>
                <a:latin typeface="Calibri"/>
                <a:ea typeface="Calibri"/>
                <a:cs typeface="Calibri"/>
                <a:sym typeface="Calibri"/>
              </a:rPr>
              <a:t>Module 2 – Blockchain Basics</a:t>
            </a:r>
            <a:endParaRPr/>
          </a:p>
        </p:txBody>
      </p:sp>
      <p:pic>
        <p:nvPicPr>
          <p:cNvPr id="88" name="Google Shape;88;h379b879b1c6a756b_0_0" title="Снимок экрана — 2026-10-26 в 09.16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125" y="548650"/>
            <a:ext cx="4772799" cy="4169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379b879b1c6a756b_0_7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 1 · NETWORK AND YEAR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95" name="Google Shape;95;h379b879b1c6a756b_0_7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XRP Ledger, mainnet live since 2012</a:t>
            </a:r>
            <a:endParaRPr/>
          </a:p>
        </p:txBody>
      </p:sp>
      <p:sp>
        <p:nvSpPr>
          <p:cNvPr id="96" name="Google Shape;96;h379b879b1c6a756b_0_7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97" name="Google Shape;97;h379b879b1c6a756b_0_7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/>
          </a:p>
        </p:txBody>
      </p:sp>
      <p:sp>
        <p:nvSpPr>
          <p:cNvPr id="98" name="Google Shape;98;h379b879b1c6a756b_0_7"/>
          <p:cNvSpPr txBox="1"/>
          <p:nvPr/>
        </p:nvSpPr>
        <p:spPr>
          <a:xfrm>
            <a:off x="457200" y="1325880"/>
            <a:ext cx="384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Open-source, public Layer 1 blockchain designed for fast and cheap payments and value transfer. Native asset: </a:t>
            </a: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XRP</a:t>
            </a:r>
            <a:r>
              <a:rPr b="0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Created by David Schwartz, Jed McCaleb and Arthur Britto; developed with the support of Ripple (originally OpenCoin).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Mainnet go-live: </a:t>
            </a:r>
            <a:r>
              <a:rPr b="0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June 2012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Reference server implementation: </a:t>
            </a:r>
            <a:r>
              <a:rPr b="0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rippled (C++).</a:t>
            </a:r>
            <a:endParaRPr/>
          </a:p>
        </p:txBody>
      </p:sp>
      <p:sp>
        <p:nvSpPr>
          <p:cNvPr id="99" name="Google Shape;99;h379b879b1c6a756b_0_7"/>
          <p:cNvSpPr/>
          <p:nvPr/>
        </p:nvSpPr>
        <p:spPr>
          <a:xfrm>
            <a:off x="4663440" y="1325880"/>
            <a:ext cx="1874400" cy="13716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h379b879b1c6a756b_0_7"/>
          <p:cNvSpPr txBox="1"/>
          <p:nvPr/>
        </p:nvSpPr>
        <p:spPr>
          <a:xfrm>
            <a:off x="4846320" y="1508760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2012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01" name="Google Shape;101;h379b879b1c6a756b_0_7"/>
          <p:cNvSpPr txBox="1"/>
          <p:nvPr/>
        </p:nvSpPr>
        <p:spPr>
          <a:xfrm>
            <a:off x="4846320" y="2148840"/>
            <a:ext cx="155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mainnet go-live</a:t>
            </a:r>
            <a:endParaRPr/>
          </a:p>
        </p:txBody>
      </p:sp>
      <p:sp>
        <p:nvSpPr>
          <p:cNvPr id="102" name="Google Shape;102;h379b879b1c6a756b_0_7"/>
          <p:cNvSpPr/>
          <p:nvPr/>
        </p:nvSpPr>
        <p:spPr>
          <a:xfrm>
            <a:off x="6720840" y="1325880"/>
            <a:ext cx="1874400" cy="13716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h379b879b1c6a756b_0_7"/>
          <p:cNvSpPr txBox="1"/>
          <p:nvPr/>
        </p:nvSpPr>
        <p:spPr>
          <a:xfrm>
            <a:off x="6903720" y="1508760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3–5 s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04" name="Google Shape;104;h379b879b1c6a756b_0_7"/>
          <p:cNvSpPr txBox="1"/>
          <p:nvPr/>
        </p:nvSpPr>
        <p:spPr>
          <a:xfrm>
            <a:off x="6903720" y="2148840"/>
            <a:ext cx="155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ledger close &amp; finality</a:t>
            </a:r>
            <a:endParaRPr/>
          </a:p>
        </p:txBody>
      </p:sp>
      <p:sp>
        <p:nvSpPr>
          <p:cNvPr id="105" name="Google Shape;105;h379b879b1c6a756b_0_7"/>
          <p:cNvSpPr/>
          <p:nvPr/>
        </p:nvSpPr>
        <p:spPr>
          <a:xfrm>
            <a:off x="4663440" y="2926080"/>
            <a:ext cx="1874400" cy="13716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h379b879b1c6a756b_0_7"/>
          <p:cNvSpPr txBox="1"/>
          <p:nvPr/>
        </p:nvSpPr>
        <p:spPr>
          <a:xfrm>
            <a:off x="4846320" y="3108960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~1,500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07" name="Google Shape;107;h379b879b1c6a756b_0_7"/>
          <p:cNvSpPr txBox="1"/>
          <p:nvPr/>
        </p:nvSpPr>
        <p:spPr>
          <a:xfrm>
            <a:off x="4846320" y="3749040"/>
            <a:ext cx="155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transactions per second</a:t>
            </a:r>
            <a:endParaRPr/>
          </a:p>
        </p:txBody>
      </p:sp>
      <p:sp>
        <p:nvSpPr>
          <p:cNvPr id="108" name="Google Shape;108;h379b879b1c6a756b_0_7"/>
          <p:cNvSpPr/>
          <p:nvPr/>
        </p:nvSpPr>
        <p:spPr>
          <a:xfrm>
            <a:off x="6720840" y="2926080"/>
            <a:ext cx="1874400" cy="13716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h379b879b1c6a756b_0_7"/>
          <p:cNvSpPr txBox="1"/>
          <p:nvPr/>
        </p:nvSpPr>
        <p:spPr>
          <a:xfrm>
            <a:off x="6903720" y="3108960"/>
            <a:ext cx="15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100 B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10" name="Google Shape;110;h379b879b1c6a756b_0_7"/>
          <p:cNvSpPr txBox="1"/>
          <p:nvPr/>
        </p:nvSpPr>
        <p:spPr>
          <a:xfrm>
            <a:off x="6903720" y="3749040"/>
            <a:ext cx="155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created at genesis, no mining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379b879b1c6a756b_0_28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 2 · CONSENSUS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116" name="Google Shape;116;h379b879b1c6a756b_0_28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XRP Ledger Consensus Protocol</a:t>
            </a:r>
            <a:endParaRPr/>
          </a:p>
        </p:txBody>
      </p:sp>
      <p:sp>
        <p:nvSpPr>
          <p:cNvPr id="117" name="Google Shape;117;h379b879b1c6a756b_0_28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</a:t>
            </a:r>
            <a:r>
              <a:rPr lang="en-US" sz="1000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Basics</a:t>
            </a:r>
            <a:endParaRPr/>
          </a:p>
        </p:txBody>
      </p:sp>
      <p:sp>
        <p:nvSpPr>
          <p:cNvPr id="118" name="Google Shape;118;h379b879b1c6a756b_0_28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/>
          </a:p>
        </p:txBody>
      </p:sp>
      <p:sp>
        <p:nvSpPr>
          <p:cNvPr id="119" name="Google Shape;119;h379b879b1c6a756b_0_28"/>
          <p:cNvSpPr txBox="1"/>
          <p:nvPr/>
        </p:nvSpPr>
        <p:spPr>
          <a:xfrm>
            <a:off x="457200" y="1188720"/>
            <a:ext cx="822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240"/>
                </a:solidFill>
                <a:latin typeface="Calibri"/>
                <a:ea typeface="Calibri"/>
                <a:cs typeface="Calibri"/>
                <a:sym typeface="Calibri"/>
              </a:rPr>
              <a:t>A Byzantine fault tolerant, federated agreement protocol: no mining (PoW) and no staking (PoS).</a:t>
            </a:r>
            <a:endParaRPr/>
          </a:p>
        </p:txBody>
      </p:sp>
      <p:sp>
        <p:nvSpPr>
          <p:cNvPr id="120" name="Google Shape;120;h379b879b1c6a756b_0_28"/>
          <p:cNvSpPr/>
          <p:nvPr/>
        </p:nvSpPr>
        <p:spPr>
          <a:xfrm>
            <a:off x="457200" y="1783080"/>
            <a:ext cx="502800" cy="5028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1" name="Google Shape;121;h379b879b1c6a756b_0_28"/>
          <p:cNvSpPr txBox="1"/>
          <p:nvPr/>
        </p:nvSpPr>
        <p:spPr>
          <a:xfrm>
            <a:off x="457200" y="2423160"/>
            <a:ext cx="187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  <a:endParaRPr/>
          </a:p>
        </p:txBody>
      </p:sp>
      <p:sp>
        <p:nvSpPr>
          <p:cNvPr id="122" name="Google Shape;122;h379b879b1c6a756b_0_28"/>
          <p:cNvSpPr txBox="1"/>
          <p:nvPr/>
        </p:nvSpPr>
        <p:spPr>
          <a:xfrm>
            <a:off x="457200" y="2743200"/>
            <a:ext cx="18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Each validator gathers candidate transactions into a proposed set.</a:t>
            </a:r>
            <a:endParaRPr/>
          </a:p>
        </p:txBody>
      </p:sp>
      <p:sp>
        <p:nvSpPr>
          <p:cNvPr id="123" name="Google Shape;123;h379b879b1c6a756b_0_28"/>
          <p:cNvSpPr/>
          <p:nvPr/>
        </p:nvSpPr>
        <p:spPr>
          <a:xfrm>
            <a:off x="2560320" y="1783080"/>
            <a:ext cx="502800" cy="5028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4" name="Google Shape;124;h379b879b1c6a756b_0_28"/>
          <p:cNvSpPr txBox="1"/>
          <p:nvPr/>
        </p:nvSpPr>
        <p:spPr>
          <a:xfrm>
            <a:off x="2560320" y="2423160"/>
            <a:ext cx="187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Propose</a:t>
            </a:r>
            <a:endParaRPr/>
          </a:p>
        </p:txBody>
      </p:sp>
      <p:sp>
        <p:nvSpPr>
          <p:cNvPr id="125" name="Google Shape;125;h379b879b1c6a756b_0_28"/>
          <p:cNvSpPr txBox="1"/>
          <p:nvPr/>
        </p:nvSpPr>
        <p:spPr>
          <a:xfrm>
            <a:off x="2560320" y="2743200"/>
            <a:ext cx="18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Proposals are exchanged with the validators on its Unique Node List (UNL).</a:t>
            </a:r>
            <a:endParaRPr/>
          </a:p>
        </p:txBody>
      </p:sp>
      <p:sp>
        <p:nvSpPr>
          <p:cNvPr id="126" name="Google Shape;126;h379b879b1c6a756b_0_28"/>
          <p:cNvSpPr/>
          <p:nvPr/>
        </p:nvSpPr>
        <p:spPr>
          <a:xfrm>
            <a:off x="4663440" y="1783080"/>
            <a:ext cx="502800" cy="5028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7" name="Google Shape;127;h379b879b1c6a756b_0_28"/>
          <p:cNvSpPr txBox="1"/>
          <p:nvPr/>
        </p:nvSpPr>
        <p:spPr>
          <a:xfrm>
            <a:off x="4663440" y="2423160"/>
            <a:ext cx="187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Agree</a:t>
            </a:r>
            <a:endParaRPr/>
          </a:p>
        </p:txBody>
      </p:sp>
      <p:sp>
        <p:nvSpPr>
          <p:cNvPr id="128" name="Google Shape;128;h379b879b1c6a756b_0_28"/>
          <p:cNvSpPr txBox="1"/>
          <p:nvPr/>
        </p:nvSpPr>
        <p:spPr>
          <a:xfrm>
            <a:off x="4663440" y="2743200"/>
            <a:ext cx="18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Repeated rounds until ≥ 80% of the UNL agrees on one transaction set.</a:t>
            </a:r>
            <a:endParaRPr/>
          </a:p>
        </p:txBody>
      </p:sp>
      <p:sp>
        <p:nvSpPr>
          <p:cNvPr id="129" name="Google Shape;129;h379b879b1c6a756b_0_28"/>
          <p:cNvSpPr/>
          <p:nvPr/>
        </p:nvSpPr>
        <p:spPr>
          <a:xfrm>
            <a:off x="6766559" y="1783080"/>
            <a:ext cx="502800" cy="5028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0" name="Google Shape;130;h379b879b1c6a756b_0_28"/>
          <p:cNvSpPr txBox="1"/>
          <p:nvPr/>
        </p:nvSpPr>
        <p:spPr>
          <a:xfrm>
            <a:off x="6766559" y="2423160"/>
            <a:ext cx="1874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</p:txBody>
      </p:sp>
      <p:sp>
        <p:nvSpPr>
          <p:cNvPr id="131" name="Google Shape;131;h379b879b1c6a756b_0_28"/>
          <p:cNvSpPr txBox="1"/>
          <p:nvPr/>
        </p:nvSpPr>
        <p:spPr>
          <a:xfrm>
            <a:off x="6766559" y="2743200"/>
            <a:ext cx="18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Validators sign the ledger hash; validated once a supermajority agrees.</a:t>
            </a:r>
            <a:endParaRPr/>
          </a:p>
        </p:txBody>
      </p:sp>
      <p:sp>
        <p:nvSpPr>
          <p:cNvPr id="132" name="Google Shape;132;h379b879b1c6a756b_0_28"/>
          <p:cNvSpPr/>
          <p:nvPr/>
        </p:nvSpPr>
        <p:spPr>
          <a:xfrm>
            <a:off x="457200" y="3840480"/>
            <a:ext cx="8229600" cy="7314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379b879b1c6a756b_0_28"/>
          <p:cNvSpPr txBox="1"/>
          <p:nvPr/>
        </p:nvSpPr>
        <p:spPr>
          <a:xfrm>
            <a:off x="685800" y="3840480"/>
            <a:ext cx="78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Fault tolerance: </a:t>
            </a: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safe while fewer than 20% of trusted validators are faulty  ·  </a:t>
            </a:r>
            <a:r>
              <a:rPr b="1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Energy: </a:t>
            </a: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negligible, no mining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379b879b1c6a756b_0_53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 3 · LEDGER STORAGE TOPOLOGY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39" name="Google Shape;139;h379b879b1c6a756b_0_53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A chain of ledger versions</a:t>
            </a:r>
            <a:endParaRPr/>
          </a:p>
        </p:txBody>
      </p:sp>
      <p:sp>
        <p:nvSpPr>
          <p:cNvPr id="140" name="Google Shape;140;h379b879b1c6a756b_0_53"/>
          <p:cNvSpPr txBox="1"/>
          <p:nvPr/>
        </p:nvSpPr>
        <p:spPr>
          <a:xfrm>
            <a:off x="6957075" y="453533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/>
          </a:p>
        </p:txBody>
      </p:sp>
      <p:sp>
        <p:nvSpPr>
          <p:cNvPr id="141" name="Google Shape;141;h379b879b1c6a756b_0_53"/>
          <p:cNvSpPr/>
          <p:nvPr/>
        </p:nvSpPr>
        <p:spPr>
          <a:xfrm>
            <a:off x="457325" y="2701900"/>
            <a:ext cx="2511600" cy="19659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379b879b1c6a756b_0_53"/>
          <p:cNvSpPr txBox="1"/>
          <p:nvPr/>
        </p:nvSpPr>
        <p:spPr>
          <a:xfrm>
            <a:off x="640205" y="279335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Ledger N − 1</a:t>
            </a:r>
            <a:endParaRPr/>
          </a:p>
        </p:txBody>
      </p:sp>
      <p:sp>
        <p:nvSpPr>
          <p:cNvPr id="143" name="Google Shape;143;h379b879b1c6a756b_0_53"/>
          <p:cNvSpPr txBox="1"/>
          <p:nvPr/>
        </p:nvSpPr>
        <p:spPr>
          <a:xfrm>
            <a:off x="640205" y="3204830"/>
            <a:ext cx="2194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Header: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index, close time, parent hash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State tree: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all accounts &amp; objects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Tx tree: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transactions applied</a:t>
            </a:r>
            <a:endParaRPr/>
          </a:p>
        </p:txBody>
      </p:sp>
      <p:cxnSp>
        <p:nvCxnSpPr>
          <p:cNvPr id="144" name="Google Shape;144;h379b879b1c6a756b_0_53"/>
          <p:cNvCxnSpPr/>
          <p:nvPr/>
        </p:nvCxnSpPr>
        <p:spPr>
          <a:xfrm>
            <a:off x="3063365" y="3680318"/>
            <a:ext cx="183000" cy="0"/>
          </a:xfrm>
          <a:prstGeom prst="straightConnector1">
            <a:avLst/>
          </a:prstGeom>
          <a:noFill/>
          <a:ln cap="flat" cmpd="sng" w="22225">
            <a:solidFill>
              <a:srgbClr val="5F6B7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5" name="Google Shape;145;h379b879b1c6a756b_0_53"/>
          <p:cNvSpPr/>
          <p:nvPr/>
        </p:nvSpPr>
        <p:spPr>
          <a:xfrm>
            <a:off x="3291965" y="2701910"/>
            <a:ext cx="2560200" cy="1965900"/>
          </a:xfrm>
          <a:prstGeom prst="roundRect">
            <a:avLst>
              <a:gd fmla="val 8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379b879b1c6a756b_0_53"/>
          <p:cNvSpPr txBox="1"/>
          <p:nvPr/>
        </p:nvSpPr>
        <p:spPr>
          <a:xfrm>
            <a:off x="3474845" y="279335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Ledger N</a:t>
            </a:r>
            <a:endParaRPr/>
          </a:p>
        </p:txBody>
      </p:sp>
      <p:sp>
        <p:nvSpPr>
          <p:cNvPr id="147" name="Google Shape;147;h379b879b1c6a756b_0_53"/>
          <p:cNvSpPr txBox="1"/>
          <p:nvPr/>
        </p:nvSpPr>
        <p:spPr>
          <a:xfrm>
            <a:off x="3474845" y="3204830"/>
            <a:ext cx="2194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Header: </a:t>
            </a:r>
            <a:r>
              <a:rPr b="0" i="0" lang="en-US" sz="1200" u="none" cap="none" strike="noStrike">
                <a:solidFill>
                  <a:srgbClr val="D7F0F2"/>
                </a:solidFill>
                <a:latin typeface="Calibri"/>
                <a:ea typeface="Calibri"/>
                <a:cs typeface="Calibri"/>
                <a:sym typeface="Calibri"/>
              </a:rPr>
              <a:t>index, close time, parent hash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tree: </a:t>
            </a:r>
            <a:r>
              <a:rPr b="0" i="0" lang="en-US" sz="1200" u="none" cap="none" strike="noStrike">
                <a:solidFill>
                  <a:srgbClr val="D7F0F2"/>
                </a:solidFill>
                <a:latin typeface="Calibri"/>
                <a:ea typeface="Calibri"/>
                <a:cs typeface="Calibri"/>
                <a:sym typeface="Calibri"/>
              </a:rPr>
              <a:t>all accounts &amp; objects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Tx tree: </a:t>
            </a:r>
            <a:r>
              <a:rPr b="0" i="0" lang="en-US" sz="1200" u="none" cap="none" strike="noStrike">
                <a:solidFill>
                  <a:srgbClr val="D7F0F2"/>
                </a:solidFill>
                <a:latin typeface="Calibri"/>
                <a:ea typeface="Calibri"/>
                <a:cs typeface="Calibri"/>
                <a:sym typeface="Calibri"/>
              </a:rPr>
              <a:t>transactions applied</a:t>
            </a:r>
            <a:endParaRPr/>
          </a:p>
        </p:txBody>
      </p:sp>
      <p:cxnSp>
        <p:nvCxnSpPr>
          <p:cNvPr id="148" name="Google Shape;148;h379b879b1c6a756b_0_53"/>
          <p:cNvCxnSpPr/>
          <p:nvPr/>
        </p:nvCxnSpPr>
        <p:spPr>
          <a:xfrm>
            <a:off x="5898005" y="3680318"/>
            <a:ext cx="183000" cy="0"/>
          </a:xfrm>
          <a:prstGeom prst="straightConnector1">
            <a:avLst/>
          </a:prstGeom>
          <a:noFill/>
          <a:ln cap="flat" cmpd="sng" w="22225">
            <a:solidFill>
              <a:srgbClr val="5F6B7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49" name="Google Shape;149;h379b879b1c6a756b_0_53"/>
          <p:cNvSpPr/>
          <p:nvPr/>
        </p:nvSpPr>
        <p:spPr>
          <a:xfrm>
            <a:off x="6126605" y="2701910"/>
            <a:ext cx="2560200" cy="19659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379b879b1c6a756b_0_53"/>
          <p:cNvSpPr txBox="1"/>
          <p:nvPr/>
        </p:nvSpPr>
        <p:spPr>
          <a:xfrm>
            <a:off x="6309485" y="2793350"/>
            <a:ext cx="2194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Ledger N + 1</a:t>
            </a:r>
            <a:endParaRPr/>
          </a:p>
        </p:txBody>
      </p:sp>
      <p:sp>
        <p:nvSpPr>
          <p:cNvPr id="151" name="Google Shape;151;h379b879b1c6a756b_0_53"/>
          <p:cNvSpPr txBox="1"/>
          <p:nvPr/>
        </p:nvSpPr>
        <p:spPr>
          <a:xfrm>
            <a:off x="6309485" y="3204830"/>
            <a:ext cx="2194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Header: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index, close time, parent hash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State tree: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all accounts &amp; objects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Tx tree: </a:t>
            </a:r>
            <a:r>
              <a:rPr b="0" i="0" lang="en-US" sz="12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transactions applied</a:t>
            </a:r>
            <a:endParaRPr/>
          </a:p>
        </p:txBody>
      </p:sp>
      <p:sp>
        <p:nvSpPr>
          <p:cNvPr id="152" name="Google Shape;152;h379b879b1c6a756b_0_53"/>
          <p:cNvSpPr txBox="1"/>
          <p:nvPr/>
        </p:nvSpPr>
        <p:spPr>
          <a:xfrm>
            <a:off x="404925" y="1091150"/>
            <a:ext cx="53241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1168" lvl="0" marL="201168" marR="0" rtl="0" algn="l">
              <a:spcBef>
                <a:spcPts val="0"/>
              </a:spcBef>
              <a:spcAft>
                <a:spcPts val="0"/>
              </a:spcAft>
              <a:buClr>
                <a:srgbClr val="15181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Each ledger version references its parent by hash, so the history forms a linear chain, similar to a chain of blocks.</a:t>
            </a:r>
            <a:endParaRPr/>
          </a:p>
          <a:p>
            <a:pPr indent="-201168" lvl="0" marL="201168" marR="0" rtl="0" algn="l">
              <a:spcBef>
                <a:spcPts val="600"/>
              </a:spcBef>
              <a:spcAft>
                <a:spcPts val="0"/>
              </a:spcAft>
              <a:buClr>
                <a:srgbClr val="15181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Unlike a Bitcoin block, every version also commits to a full snapshot of the state (SHAMap: a radix-16 Merkle tree), not only to transactions.</a:t>
            </a:r>
            <a:endParaRPr/>
          </a:p>
        </p:txBody>
      </p:sp>
      <p:pic>
        <p:nvPicPr>
          <p:cNvPr id="153" name="Google Shape;153;h379b879b1c6a756b_0_53" title="Снимок экрана — 2026-10-26 в 09.22.48.png"/>
          <p:cNvPicPr preferRelativeResize="0"/>
          <p:nvPr/>
        </p:nvPicPr>
        <p:blipFill rotWithShape="1">
          <a:blip r:embed="rId3">
            <a:alphaModFix/>
          </a:blip>
          <a:srcRect b="0" l="0" r="0" t="4970"/>
          <a:stretch/>
        </p:blipFill>
        <p:spPr>
          <a:xfrm>
            <a:off x="6081000" y="292600"/>
            <a:ext cx="3049252" cy="214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379b879b1c6a756b_0_72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 4 · HASH ALGORITHM AND IMMUTABILITY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59" name="Google Shape;159;h379b879b1c6a756b_0_72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SHA-512Half secures the history</a:t>
            </a:r>
            <a:endParaRPr/>
          </a:p>
        </p:txBody>
      </p:sp>
      <p:sp>
        <p:nvSpPr>
          <p:cNvPr id="160" name="Google Shape;160;h379b879b1c6a756b_0_72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161" name="Google Shape;161;h379b879b1c6a756b_0_72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/>
          </a:p>
        </p:txBody>
      </p:sp>
      <p:sp>
        <p:nvSpPr>
          <p:cNvPr id="162" name="Google Shape;162;h379b879b1c6a756b_0_72"/>
          <p:cNvSpPr/>
          <p:nvPr/>
        </p:nvSpPr>
        <p:spPr>
          <a:xfrm>
            <a:off x="457200" y="1280160"/>
            <a:ext cx="3017400" cy="3246000"/>
          </a:xfrm>
          <a:prstGeom prst="roundRect">
            <a:avLst>
              <a:gd fmla="val 8000" name="adj"/>
            </a:avLst>
          </a:prstGeom>
          <a:solidFill>
            <a:srgbClr val="99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379b879b1c6a756b_0_72"/>
          <p:cNvSpPr txBox="1"/>
          <p:nvPr/>
        </p:nvSpPr>
        <p:spPr>
          <a:xfrm>
            <a:off x="685800" y="1508760"/>
            <a:ext cx="2651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AA8B8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164" name="Google Shape;164;h379b879b1c6a756b_0_72"/>
          <p:cNvSpPr txBox="1"/>
          <p:nvPr/>
        </p:nvSpPr>
        <p:spPr>
          <a:xfrm>
            <a:off x="685800" y="1874519"/>
            <a:ext cx="265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SHA-512Half</a:t>
            </a:r>
            <a:endParaRPr/>
          </a:p>
        </p:txBody>
      </p:sp>
      <p:sp>
        <p:nvSpPr>
          <p:cNvPr id="165" name="Google Shape;165;h379b879b1c6a756b_0_72"/>
          <p:cNvSpPr txBox="1"/>
          <p:nvPr/>
        </p:nvSpPr>
        <p:spPr>
          <a:xfrm>
            <a:off x="685800" y="2651760"/>
            <a:ext cx="2651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D3DE"/>
                </a:solidFill>
                <a:latin typeface="Calibri"/>
                <a:ea typeface="Calibri"/>
                <a:cs typeface="Calibri"/>
                <a:sym typeface="Calibri"/>
              </a:rPr>
              <a:t>First 256 bits of SHA-512. Used for ledger, transaction and tree-node hashes. Signatures: ECDSA secp256k1 or Ed25519.</a:t>
            </a:r>
            <a:endParaRPr/>
          </a:p>
        </p:txBody>
      </p:sp>
      <p:sp>
        <p:nvSpPr>
          <p:cNvPr id="166" name="Google Shape;166;h379b879b1c6a756b_0_72"/>
          <p:cNvSpPr/>
          <p:nvPr/>
        </p:nvSpPr>
        <p:spPr>
          <a:xfrm>
            <a:off x="3794760" y="1325880"/>
            <a:ext cx="411600" cy="4116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67" name="Google Shape;167;h379b879b1c6a756b_0_72"/>
          <p:cNvSpPr txBox="1"/>
          <p:nvPr/>
        </p:nvSpPr>
        <p:spPr>
          <a:xfrm>
            <a:off x="4389120" y="1280160"/>
            <a:ext cx="429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Hash-linked headers</a:t>
            </a:r>
            <a:endParaRPr/>
          </a:p>
        </p:txBody>
      </p:sp>
      <p:sp>
        <p:nvSpPr>
          <p:cNvPr id="168" name="Google Shape;168;h379b879b1c6a756b_0_72"/>
          <p:cNvSpPr txBox="1"/>
          <p:nvPr/>
        </p:nvSpPr>
        <p:spPr>
          <a:xfrm>
            <a:off x="4389120" y="1572768"/>
            <a:ext cx="42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Changing an old ledger changes its hash and breaks every later link.</a:t>
            </a:r>
            <a:endParaRPr/>
          </a:p>
        </p:txBody>
      </p:sp>
      <p:sp>
        <p:nvSpPr>
          <p:cNvPr id="169" name="Google Shape;169;h379b879b1c6a756b_0_72"/>
          <p:cNvSpPr/>
          <p:nvPr/>
        </p:nvSpPr>
        <p:spPr>
          <a:xfrm>
            <a:off x="3794760" y="2148839"/>
            <a:ext cx="411600" cy="4116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70" name="Google Shape;170;h379b879b1c6a756b_0_72"/>
          <p:cNvSpPr txBox="1"/>
          <p:nvPr/>
        </p:nvSpPr>
        <p:spPr>
          <a:xfrm>
            <a:off x="4389120" y="2103120"/>
            <a:ext cx="429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Merkle trees</a:t>
            </a:r>
            <a:endParaRPr/>
          </a:p>
        </p:txBody>
      </p:sp>
      <p:sp>
        <p:nvSpPr>
          <p:cNvPr id="171" name="Google Shape;171;h379b879b1c6a756b_0_72"/>
          <p:cNvSpPr txBox="1"/>
          <p:nvPr/>
        </p:nvSpPr>
        <p:spPr>
          <a:xfrm>
            <a:off x="4389120" y="2395727"/>
            <a:ext cx="42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State and transaction trees roll up into root hashes stored in the header.</a:t>
            </a:r>
            <a:endParaRPr/>
          </a:p>
        </p:txBody>
      </p:sp>
      <p:sp>
        <p:nvSpPr>
          <p:cNvPr id="172" name="Google Shape;172;h379b879b1c6a756b_0_72"/>
          <p:cNvSpPr/>
          <p:nvPr/>
        </p:nvSpPr>
        <p:spPr>
          <a:xfrm>
            <a:off x="3794760" y="2971800"/>
            <a:ext cx="411600" cy="4116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73" name="Google Shape;173;h379b879b1c6a756b_0_72"/>
          <p:cNvSpPr txBox="1"/>
          <p:nvPr/>
        </p:nvSpPr>
        <p:spPr>
          <a:xfrm>
            <a:off x="4389120" y="2926080"/>
            <a:ext cx="429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Signed validations</a:t>
            </a:r>
            <a:endParaRPr/>
          </a:p>
        </p:txBody>
      </p:sp>
      <p:sp>
        <p:nvSpPr>
          <p:cNvPr id="174" name="Google Shape;174;h379b879b1c6a756b_0_72"/>
          <p:cNvSpPr txBox="1"/>
          <p:nvPr/>
        </p:nvSpPr>
        <p:spPr>
          <a:xfrm>
            <a:off x="4389120" y="3218688"/>
            <a:ext cx="429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Validators sign each validated ledger hash.</a:t>
            </a:r>
            <a:endParaRPr/>
          </a:p>
        </p:txBody>
      </p:sp>
      <p:sp>
        <p:nvSpPr>
          <p:cNvPr id="175" name="Google Shape;175;h379b879b1c6a756b_0_72"/>
          <p:cNvSpPr/>
          <p:nvPr/>
        </p:nvSpPr>
        <p:spPr>
          <a:xfrm>
            <a:off x="3794760" y="3794759"/>
            <a:ext cx="411600" cy="4116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76" name="Google Shape;176;h379b879b1c6a756b_0_72"/>
          <p:cNvSpPr txBox="1"/>
          <p:nvPr/>
        </p:nvSpPr>
        <p:spPr>
          <a:xfrm>
            <a:off x="4389120" y="3749039"/>
            <a:ext cx="429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Strong finality</a:t>
            </a:r>
            <a:endParaRPr/>
          </a:p>
        </p:txBody>
      </p:sp>
      <p:sp>
        <p:nvSpPr>
          <p:cNvPr id="177" name="Google Shape;177;h379b879b1c6a756b_0_72"/>
          <p:cNvSpPr txBox="1"/>
          <p:nvPr/>
        </p:nvSpPr>
        <p:spPr>
          <a:xfrm>
            <a:off x="4389120" y="4041648"/>
            <a:ext cx="42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Validated ledgers are final; temporary competing unvalidated versions may exist.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379b879b1c6a756b_0_95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PARAMETERS 5 AND 6 · JOIN MODEL AND PERMISSION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183" name="Google Shape;183;h379b879b1c6a756b_0_95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Public and permissionless</a:t>
            </a:r>
            <a:endParaRPr/>
          </a:p>
        </p:txBody>
      </p:sp>
      <p:sp>
        <p:nvSpPr>
          <p:cNvPr id="184" name="Google Shape;184;h379b879b1c6a756b_0_95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185" name="Google Shape;185;h379b879b1c6a756b_0_95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/>
          </a:p>
        </p:txBody>
      </p:sp>
      <p:sp>
        <p:nvSpPr>
          <p:cNvPr id="186" name="Google Shape;186;h379b879b1c6a756b_0_95"/>
          <p:cNvSpPr/>
          <p:nvPr/>
        </p:nvSpPr>
        <p:spPr>
          <a:xfrm>
            <a:off x="457200" y="1280160"/>
            <a:ext cx="2560200" cy="23775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379b879b1c6a756b_0_95"/>
          <p:cNvSpPr/>
          <p:nvPr/>
        </p:nvSpPr>
        <p:spPr>
          <a:xfrm>
            <a:off x="685800" y="1481328"/>
            <a:ext cx="457200" cy="4572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88" name="Google Shape;188;h379b879b1c6a756b_0_95"/>
          <p:cNvSpPr txBox="1"/>
          <p:nvPr/>
        </p:nvSpPr>
        <p:spPr>
          <a:xfrm>
            <a:off x="685800" y="2057400"/>
            <a:ext cx="214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</p:txBody>
      </p:sp>
      <p:sp>
        <p:nvSpPr>
          <p:cNvPr id="189" name="Google Shape;189;h379b879b1c6a756b_0_95"/>
          <p:cNvSpPr txBox="1"/>
          <p:nvPr/>
        </p:nvSpPr>
        <p:spPr>
          <a:xfrm>
            <a:off x="685800" y="2514600"/>
            <a:ext cx="214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Anyone can run a rippled server, read the full ledger, create an account and submit transactions.</a:t>
            </a:r>
            <a:endParaRPr/>
          </a:p>
        </p:txBody>
      </p:sp>
      <p:sp>
        <p:nvSpPr>
          <p:cNvPr id="190" name="Google Shape;190;h379b879b1c6a756b_0_95"/>
          <p:cNvSpPr/>
          <p:nvPr/>
        </p:nvSpPr>
        <p:spPr>
          <a:xfrm>
            <a:off x="3246120" y="1280160"/>
            <a:ext cx="2560200" cy="2377500"/>
          </a:xfrm>
          <a:prstGeom prst="roundRect">
            <a:avLst>
              <a:gd fmla="val 8000" name="adj"/>
            </a:avLst>
          </a:prstGeom>
          <a:solidFill>
            <a:srgbClr val="EEF1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379b879b1c6a756b_0_95"/>
          <p:cNvSpPr/>
          <p:nvPr/>
        </p:nvSpPr>
        <p:spPr>
          <a:xfrm>
            <a:off x="3474720" y="1481328"/>
            <a:ext cx="457200" cy="457200"/>
          </a:xfrm>
          <a:prstGeom prst="ellipse">
            <a:avLst/>
          </a:prstGeom>
          <a:solidFill>
            <a:srgbClr val="9900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2" name="Google Shape;192;h379b879b1c6a756b_0_95"/>
          <p:cNvSpPr txBox="1"/>
          <p:nvPr/>
        </p:nvSpPr>
        <p:spPr>
          <a:xfrm>
            <a:off x="3474720" y="2057400"/>
            <a:ext cx="214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Permissionless</a:t>
            </a:r>
            <a:endParaRPr/>
          </a:p>
        </p:txBody>
      </p:sp>
      <p:sp>
        <p:nvSpPr>
          <p:cNvPr id="193" name="Google Shape;193;h379b879b1c6a756b_0_95"/>
          <p:cNvSpPr txBox="1"/>
          <p:nvPr/>
        </p:nvSpPr>
        <p:spPr>
          <a:xfrm>
            <a:off x="3474720" y="2514600"/>
            <a:ext cx="2148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No approval is needed to transact or to run a validator. Accounts are activated by funding the minimum XRP reserve.</a:t>
            </a:r>
            <a:endParaRPr/>
          </a:p>
        </p:txBody>
      </p:sp>
      <p:sp>
        <p:nvSpPr>
          <p:cNvPr id="194" name="Google Shape;194;h379b879b1c6a756b_0_95"/>
          <p:cNvSpPr/>
          <p:nvPr/>
        </p:nvSpPr>
        <p:spPr>
          <a:xfrm>
            <a:off x="6035040" y="1280160"/>
            <a:ext cx="2651700" cy="2377500"/>
          </a:xfrm>
          <a:prstGeom prst="roundRect">
            <a:avLst>
              <a:gd fmla="val 8000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379b879b1c6a756b_0_95"/>
          <p:cNvSpPr txBox="1"/>
          <p:nvPr/>
        </p:nvSpPr>
        <p:spPr>
          <a:xfrm>
            <a:off x="6263640" y="1463040"/>
            <a:ext cx="2240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Nuance: federated trust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Which validators count is chosen per server via its UNL. Most servers use default UNLs published by the XRPL Foundation and Ripple, so critics call XRPL semi-permissioned.</a:t>
            </a:r>
            <a:endParaRPr/>
          </a:p>
        </p:txBody>
      </p:sp>
      <p:sp>
        <p:nvSpPr>
          <p:cNvPr id="196" name="Google Shape;196;h379b879b1c6a756b_0_95"/>
          <p:cNvSpPr txBox="1"/>
          <p:nvPr/>
        </p:nvSpPr>
        <p:spPr>
          <a:xfrm>
            <a:off x="457200" y="3931920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B3240"/>
                </a:solidFill>
                <a:latin typeface="Calibri"/>
                <a:ea typeface="Calibri"/>
                <a:cs typeface="Calibri"/>
                <a:sym typeface="Calibri"/>
              </a:rPr>
              <a:t>Result: an open network for users and node operators, with a curated set of trusted validators for consensus.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79b879b1c6a756b_0_113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PARAMETER 7 · DESIGN PRINCIPLE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02" name="Google Shape;202;h379b879b1c6a756b_0_113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Consistency first: pause rather than fork</a:t>
            </a:r>
            <a:endParaRPr/>
          </a:p>
        </p:txBody>
      </p:sp>
      <p:sp>
        <p:nvSpPr>
          <p:cNvPr id="203" name="Google Shape;203;h379b879b1c6a756b_0_113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204" name="Google Shape;204;h379b879b1c6a756b_0_113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/>
          </a:p>
        </p:txBody>
      </p:sp>
      <p:sp>
        <p:nvSpPr>
          <p:cNvPr id="205" name="Google Shape;205;h379b879b1c6a756b_0_113"/>
          <p:cNvSpPr txBox="1"/>
          <p:nvPr/>
        </p:nvSpPr>
        <p:spPr>
          <a:xfrm>
            <a:off x="457200" y="1280160"/>
            <a:ext cx="40233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CAP theorem </a:t>
            </a:r>
            <a:endParaRPr/>
          </a:p>
          <a:p>
            <a:pPr indent="-201168" lvl="0" marL="201168" marR="0" rtl="0" algn="l">
              <a:spcBef>
                <a:spcPts val="600"/>
              </a:spcBef>
              <a:spcAft>
                <a:spcPts val="0"/>
              </a:spcAft>
              <a:buClr>
                <a:srgbClr val="15181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During a serious network partition XRPL prefers to pause validating new ledgers rather than keep going at the cost of consistency.</a:t>
            </a:r>
            <a:endParaRPr/>
          </a:p>
          <a:p>
            <a:pPr indent="-201168" lvl="0" marL="201168" marR="0" rtl="0" algn="l">
              <a:spcBef>
                <a:spcPts val="600"/>
              </a:spcBef>
              <a:spcAft>
                <a:spcPts val="0"/>
              </a:spcAft>
              <a:buClr>
                <a:srgbClr val="15181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As a simplification this is CP-leaning; CAP is not a strict classification of every blockchain property.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Blockchain trilemma</a:t>
            </a:r>
            <a:endParaRPr/>
          </a:p>
          <a:p>
            <a:pPr indent="-201168" lvl="0" marL="201168" marR="0" rtl="0" algn="l">
              <a:spcBef>
                <a:spcPts val="600"/>
              </a:spcBef>
              <a:spcAft>
                <a:spcPts val="0"/>
              </a:spcAft>
              <a:buClr>
                <a:srgbClr val="15181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Strong security and scalability (3–5 s finality, ~1,500 TPS, tiny fees) in exchange for weaker decentralisation of the validator set.</a:t>
            </a:r>
            <a:endParaRPr/>
          </a:p>
        </p:txBody>
      </p:sp>
      <p:sp>
        <p:nvSpPr>
          <p:cNvPr id="206" name="Google Shape;206;h379b879b1c6a756b_0_113"/>
          <p:cNvSpPr txBox="1"/>
          <p:nvPr/>
        </p:nvSpPr>
        <p:spPr>
          <a:xfrm>
            <a:off x="4426465" y="4234763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/>
          </a:p>
        </p:txBody>
      </p:sp>
      <p:sp>
        <p:nvSpPr>
          <p:cNvPr id="207" name="Google Shape;207;h379b879b1c6a756b_0_113"/>
          <p:cNvSpPr txBox="1"/>
          <p:nvPr/>
        </p:nvSpPr>
        <p:spPr>
          <a:xfrm>
            <a:off x="5749430" y="1003335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Decentralisation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traded off</a:t>
            </a:r>
            <a:endParaRPr/>
          </a:p>
        </p:txBody>
      </p:sp>
      <p:sp>
        <p:nvSpPr>
          <p:cNvPr id="208" name="Google Shape;208;h379b879b1c6a756b_0_113"/>
          <p:cNvSpPr txBox="1"/>
          <p:nvPr/>
        </p:nvSpPr>
        <p:spPr>
          <a:xfrm>
            <a:off x="7040880" y="4251960"/>
            <a:ext cx="164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/>
          </a:p>
        </p:txBody>
      </p:sp>
      <p:pic>
        <p:nvPicPr>
          <p:cNvPr id="209" name="Google Shape;209;h379b879b1c6a756b_0_113" title="tfbQkV-NZNJ3s1ua5pRVBDmw8MmpJ0V1mS-CGwPRIELhuehxgbpCRdQ0h3TONFrm5AkOOX-jG9tDbnhTH0wWap_eutdZjVdQkuHB1OFcjyTbSZqSBgK3zYGZDj5-ErNz7-c9LXxiO-l-efoMUxzQ_UXdU_SZle2hZJgGcVhjpuUjQRy_ypIEnNlrd4GTVk4g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324" y="1430100"/>
            <a:ext cx="3040850" cy="26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379b879b1c6a756b_0_128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15" name="Google Shape;215;h379b879b1c6a756b_0_128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XRP Ledger at a glance</a:t>
            </a:r>
            <a:endParaRPr/>
          </a:p>
        </p:txBody>
      </p:sp>
      <p:sp>
        <p:nvSpPr>
          <p:cNvPr id="216" name="Google Shape;216;h379b879b1c6a756b_0_128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217" name="Google Shape;217;h379b879b1c6a756b_0_128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/>
          </a:p>
        </p:txBody>
      </p:sp>
      <p:graphicFrame>
        <p:nvGraphicFramePr>
          <p:cNvPr id="218" name="Google Shape;218;h379b879b1c6a756b_0_128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{23D2A66D-69A1-4612-8039-FB40DAB3ED03}</a:tableStyleId>
              </a:tblPr>
              <a:tblGrid>
                <a:gridCol w="457200"/>
                <a:gridCol w="2377450"/>
                <a:gridCol w="5394950"/>
              </a:tblGrid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/ mainnet year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XRP Ledger, June 2012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Consensus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XRP Ledger Consensus Protocol (federated BFT, UNL, 80% quorum)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Ledger topology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Hash-linked chain of ledger versions with Merkle state &amp; tx trees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Hash / immutability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SHA-512Half; signed validations; strong finality of validated ledgers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Join model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Permission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Permissionless (trust in validators is federated via UNL)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FFFFFF"/>
                    </a:solidFill>
                  </a:tcPr>
                </a:tc>
              </a:tr>
              <a:tr h="47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9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>
                        <a:solidFill>
                          <a:srgbClr val="9900FF"/>
                        </a:solidFill>
                      </a:endParaRPr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518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 / trilemma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518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Pauses rather than forks; favours security &amp; scalability over decentralisation</a:t>
                      </a:r>
                      <a:endParaRPr/>
                    </a:p>
                  </a:txBody>
                  <a:tcPr marT="45725" marB="45725" marR="91450" marL="109725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379b879b1c6a756b_0_136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24" name="Google Shape;224;h379b879b1c6a756b_0_136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225" name="Google Shape;225;h379b879b1c6a756b_0_136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226" name="Google Shape;226;h379b879b1c6a756b_0_136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/>
          </a:p>
        </p:txBody>
      </p:sp>
      <p:sp>
        <p:nvSpPr>
          <p:cNvPr id="227" name="Google Shape;227;h379b879b1c6a756b_0_136"/>
          <p:cNvSpPr/>
          <p:nvPr/>
        </p:nvSpPr>
        <p:spPr>
          <a:xfrm>
            <a:off x="457200" y="1316736"/>
            <a:ext cx="384000" cy="3840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8" name="Google Shape;228;h379b879b1c6a756b_0_136"/>
          <p:cNvSpPr txBox="1"/>
          <p:nvPr/>
        </p:nvSpPr>
        <p:spPr>
          <a:xfrm>
            <a:off x="1051560" y="1280160"/>
            <a:ext cx="75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XRPL.org — Consensus Protocol</a:t>
            </a:r>
            <a:endParaRPr/>
          </a:p>
        </p:txBody>
      </p:sp>
      <p:sp>
        <p:nvSpPr>
          <p:cNvPr id="229" name="Google Shape;229;h379b879b1c6a756b_0_136"/>
          <p:cNvSpPr txBox="1"/>
          <p:nvPr/>
        </p:nvSpPr>
        <p:spPr>
          <a:xfrm>
            <a:off x="1051560" y="1572768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xrpl.org/docs/concepts/consensus-protocol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379b879b1c6a756b_0_136"/>
          <p:cNvSpPr/>
          <p:nvPr/>
        </p:nvSpPr>
        <p:spPr>
          <a:xfrm>
            <a:off x="457200" y="1975104"/>
            <a:ext cx="384000" cy="3840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31" name="Google Shape;231;h379b879b1c6a756b_0_136"/>
          <p:cNvSpPr txBox="1"/>
          <p:nvPr/>
        </p:nvSpPr>
        <p:spPr>
          <a:xfrm>
            <a:off x="1051560" y="1938528"/>
            <a:ext cx="75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XRPL.org — Ledger Structure</a:t>
            </a:r>
            <a:endParaRPr/>
          </a:p>
        </p:txBody>
      </p:sp>
      <p:sp>
        <p:nvSpPr>
          <p:cNvPr id="232" name="Google Shape;232;h379b879b1c6a756b_0_136"/>
          <p:cNvSpPr txBox="1"/>
          <p:nvPr/>
        </p:nvSpPr>
        <p:spPr>
          <a:xfrm>
            <a:off x="1051560" y="2231136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xrpl.org/docs/concepts/ledgers/ledger-structure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379b879b1c6a756b_0_136"/>
          <p:cNvSpPr/>
          <p:nvPr/>
        </p:nvSpPr>
        <p:spPr>
          <a:xfrm>
            <a:off x="457200" y="2633472"/>
            <a:ext cx="384000" cy="3840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4" name="Google Shape;234;h379b879b1c6a756b_0_136"/>
          <p:cNvSpPr txBox="1"/>
          <p:nvPr/>
        </p:nvSpPr>
        <p:spPr>
          <a:xfrm>
            <a:off x="1051560" y="2596896"/>
            <a:ext cx="75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XRPL.org — Cryptographic keys</a:t>
            </a:r>
            <a:endParaRPr/>
          </a:p>
        </p:txBody>
      </p:sp>
      <p:sp>
        <p:nvSpPr>
          <p:cNvPr id="235" name="Google Shape;235;h379b879b1c6a756b_0_136"/>
          <p:cNvSpPr txBox="1"/>
          <p:nvPr/>
        </p:nvSpPr>
        <p:spPr>
          <a:xfrm>
            <a:off x="1051560" y="2889503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xrpl.org/docs/concepts/accounts/cryptographic-keys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h379b879b1c6a756b_0_136"/>
          <p:cNvSpPr/>
          <p:nvPr/>
        </p:nvSpPr>
        <p:spPr>
          <a:xfrm>
            <a:off x="457200" y="3291840"/>
            <a:ext cx="384000" cy="3840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7" name="Google Shape;237;h379b879b1c6a756b_0_136"/>
          <p:cNvSpPr txBox="1"/>
          <p:nvPr/>
        </p:nvSpPr>
        <p:spPr>
          <a:xfrm>
            <a:off x="1051560" y="3255264"/>
            <a:ext cx="75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Chase &amp; MacBrough (2018), Analysis of the XRP Ledger Consensus Protocol</a:t>
            </a:r>
            <a:endParaRPr/>
          </a:p>
        </p:txBody>
      </p:sp>
      <p:sp>
        <p:nvSpPr>
          <p:cNvPr id="238" name="Google Shape;238;h379b879b1c6a756b_0_136"/>
          <p:cNvSpPr txBox="1"/>
          <p:nvPr/>
        </p:nvSpPr>
        <p:spPr>
          <a:xfrm>
            <a:off x="1051560" y="3547872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arxiv.org/abs/1802.07242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h379b879b1c6a756b_0_136"/>
          <p:cNvSpPr/>
          <p:nvPr/>
        </p:nvSpPr>
        <p:spPr>
          <a:xfrm>
            <a:off x="457200" y="3950207"/>
            <a:ext cx="384000" cy="3840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40" name="Google Shape;240;h379b879b1c6a756b_0_136"/>
          <p:cNvSpPr txBox="1"/>
          <p:nvPr/>
        </p:nvSpPr>
        <p:spPr>
          <a:xfrm>
            <a:off x="1051560" y="3913631"/>
            <a:ext cx="75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J. Bachini, CAP Theorem &amp; Blockchain Trilemma</a:t>
            </a:r>
            <a:endParaRPr/>
          </a:p>
        </p:txBody>
      </p:sp>
      <p:sp>
        <p:nvSpPr>
          <p:cNvPr id="241" name="Google Shape;241;h379b879b1c6a756b_0_136"/>
          <p:cNvSpPr txBox="1"/>
          <p:nvPr/>
        </p:nvSpPr>
        <p:spPr>
          <a:xfrm>
            <a:off x="1051560" y="4206240"/>
            <a:ext cx="758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jamesbachini.com/cap-theorem-blockchain-trilemma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379b879b1c6a756b_0_158"/>
          <p:cNvSpPr txBox="1"/>
          <p:nvPr/>
        </p:nvSpPr>
        <p:spPr>
          <a:xfrm>
            <a:off x="457200" y="292608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APPENDIX · PARAMETER 0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47" name="Google Shape;247;h379b879b1c6a756b_0_158"/>
          <p:cNvSpPr txBox="1"/>
          <p:nvPr/>
        </p:nvSpPr>
        <p:spPr>
          <a:xfrm>
            <a:off x="457200" y="530352"/>
            <a:ext cx="822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5181E"/>
                </a:solidFill>
                <a:latin typeface="Arial"/>
                <a:ea typeface="Arial"/>
                <a:cs typeface="Arial"/>
                <a:sym typeface="Arial"/>
              </a:rPr>
              <a:t>Topic selection</a:t>
            </a:r>
            <a:endParaRPr/>
          </a:p>
        </p:txBody>
      </p:sp>
      <p:sp>
        <p:nvSpPr>
          <p:cNvPr id="248" name="Google Shape;248;h379b879b1c6a756b_0_158"/>
          <p:cNvSpPr txBox="1"/>
          <p:nvPr/>
        </p:nvSpPr>
        <p:spPr>
          <a:xfrm>
            <a:off x="457200" y="4754880"/>
            <a:ext cx="548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XRP Ledger  ·  Module 2 – Blockchain Basics</a:t>
            </a:r>
            <a:endParaRPr/>
          </a:p>
        </p:txBody>
      </p:sp>
      <p:sp>
        <p:nvSpPr>
          <p:cNvPr id="249" name="Google Shape;249;h379b879b1c6a756b_0_158"/>
          <p:cNvSpPr txBox="1"/>
          <p:nvPr/>
        </p:nvSpPr>
        <p:spPr>
          <a:xfrm>
            <a:off x="7772400" y="4754880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B7A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/>
          </a:p>
        </p:txBody>
      </p:sp>
      <p:sp>
        <p:nvSpPr>
          <p:cNvPr id="250" name="Google Shape;250;h379b879b1c6a756b_0_158"/>
          <p:cNvSpPr txBox="1"/>
          <p:nvPr/>
        </p:nvSpPr>
        <p:spPr>
          <a:xfrm>
            <a:off x="457200" y="1325880"/>
            <a:ext cx="36576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b="0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Anastasia Korshunova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Birthday: </a:t>
            </a:r>
            <a:r>
              <a:rPr b="0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5 December 1984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D = 5,  M = 12,  Y = 84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S = 5 + 12 + 84 = 101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5181E"/>
                </a:solidFill>
                <a:latin typeface="Calibri"/>
                <a:ea typeface="Calibri"/>
                <a:cs typeface="Calibri"/>
                <a:sym typeface="Calibri"/>
              </a:rPr>
              <a:t>R = (101 mod 16) + 1 =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2026-10-26T08:55:53Z</dcterms:created>
  <dc:creator>Anastasia Korshunova</dc:creator>
</cp:coreProperties>
</file>